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4"/>
  </p:sldMasterIdLst>
  <p:notesMasterIdLst>
    <p:notesMasterId r:id="rId18"/>
  </p:notesMasterIdLst>
  <p:handoutMasterIdLst>
    <p:handoutMasterId r:id="rId19"/>
  </p:handoutMasterIdLst>
  <p:sldIdLst>
    <p:sldId id="256" r:id="rId5"/>
    <p:sldId id="257" r:id="rId6"/>
    <p:sldId id="269" r:id="rId7"/>
    <p:sldId id="270" r:id="rId8"/>
    <p:sldId id="271" r:id="rId9"/>
    <p:sldId id="272" r:id="rId10"/>
    <p:sldId id="273" r:id="rId11"/>
    <p:sldId id="274" r:id="rId12"/>
    <p:sldId id="275" r:id="rId13"/>
    <p:sldId id="276" r:id="rId14"/>
    <p:sldId id="277" r:id="rId15"/>
    <p:sldId id="278" r:id="rId16"/>
    <p:sldId id="268" r:id="rId17"/>
  </p:sldIdLst>
  <p:sldSz cx="9144000" cy="6858000" type="screen4x3"/>
  <p:notesSz cx="7559675" cy="106918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AB2E2"/>
    <a:srgbClr val="2A66AC"/>
    <a:srgbClr val="75A4DD"/>
    <a:srgbClr val="2E6CB8"/>
    <a:srgbClr val="2A65AC"/>
    <a:srgbClr val="255997"/>
    <a:srgbClr val="3379CD"/>
    <a:srgbClr val="558ED5"/>
    <a:srgbClr val="78A6DE"/>
    <a:srgbClr val="9DBEE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3" d="100"/>
          <a:sy n="63" d="100"/>
        </p:scale>
        <p:origin x="77" y="384"/>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F607C9A-EDB5-4C0A-BCFE-81AAF6133E68}"/>
              </a:ext>
            </a:extLst>
          </p:cNvPr>
          <p:cNvSpPr>
            <a:spLocks noGrp="1"/>
          </p:cNvSpPr>
          <p:nvPr>
            <p:ph type="hdr" sz="quarter"/>
          </p:nvPr>
        </p:nvSpPr>
        <p:spPr>
          <a:xfrm>
            <a:off x="0" y="0"/>
            <a:ext cx="3276600" cy="536575"/>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54F00B0C-2831-4624-A5D3-43F42D30BA74}"/>
              </a:ext>
            </a:extLst>
          </p:cNvPr>
          <p:cNvSpPr>
            <a:spLocks noGrp="1"/>
          </p:cNvSpPr>
          <p:nvPr>
            <p:ph type="dt" sz="quarter" idx="1"/>
          </p:nvPr>
        </p:nvSpPr>
        <p:spPr>
          <a:xfrm>
            <a:off x="4281488" y="0"/>
            <a:ext cx="3276600" cy="536575"/>
          </a:xfrm>
          <a:prstGeom prst="rect">
            <a:avLst/>
          </a:prstGeom>
        </p:spPr>
        <p:txBody>
          <a:bodyPr vert="horz" lIns="91440" tIns="45720" rIns="91440" bIns="45720" rtlCol="0"/>
          <a:lstStyle>
            <a:lvl1pPr algn="r">
              <a:defRPr sz="1200"/>
            </a:lvl1pPr>
          </a:lstStyle>
          <a:p>
            <a:fld id="{25D2B5EB-424D-4C39-A8AB-65F1D7895EF3}" type="datetimeFigureOut">
              <a:rPr lang="en-US" smtClean="0"/>
              <a:pPr/>
              <a:t>5/2/2026</a:t>
            </a:fld>
            <a:endParaRPr lang="en-US"/>
          </a:p>
        </p:txBody>
      </p:sp>
      <p:sp>
        <p:nvSpPr>
          <p:cNvPr id="4" name="Footer Placeholder 3">
            <a:extLst>
              <a:ext uri="{FF2B5EF4-FFF2-40B4-BE49-F238E27FC236}">
                <a16:creationId xmlns:a16="http://schemas.microsoft.com/office/drawing/2014/main" id="{B334ABA9-0C2F-480A-B554-A457296C39B5}"/>
              </a:ext>
            </a:extLst>
          </p:cNvPr>
          <p:cNvSpPr>
            <a:spLocks noGrp="1"/>
          </p:cNvSpPr>
          <p:nvPr>
            <p:ph type="ftr" sz="quarter" idx="2"/>
          </p:nvPr>
        </p:nvSpPr>
        <p:spPr>
          <a:xfrm>
            <a:off x="0" y="10155238"/>
            <a:ext cx="3276600" cy="536575"/>
          </a:xfrm>
          <a:prstGeom prst="rect">
            <a:avLst/>
          </a:prstGeom>
        </p:spPr>
        <p:txBody>
          <a:bodyPr vert="horz" lIns="91440" tIns="45720" rIns="91440" bIns="45720" rtlCol="0" anchor="b"/>
          <a:lstStyle>
            <a:lvl1pPr algn="l">
              <a:defRPr sz="1200"/>
            </a:lvl1pPr>
          </a:lstStyle>
          <a:p>
            <a:r>
              <a:rPr lang="en-US"/>
              <a:t>Name of the faculty [Group: G00] [Sem:2nd]</a:t>
            </a:r>
          </a:p>
        </p:txBody>
      </p:sp>
      <p:sp>
        <p:nvSpPr>
          <p:cNvPr id="5" name="Slide Number Placeholder 4">
            <a:extLst>
              <a:ext uri="{FF2B5EF4-FFF2-40B4-BE49-F238E27FC236}">
                <a16:creationId xmlns:a16="http://schemas.microsoft.com/office/drawing/2014/main" id="{46F3BA01-5457-4975-8BF5-D0EAD49D534B}"/>
              </a:ext>
            </a:extLst>
          </p:cNvPr>
          <p:cNvSpPr>
            <a:spLocks noGrp="1"/>
          </p:cNvSpPr>
          <p:nvPr>
            <p:ph type="sldNum" sz="quarter" idx="3"/>
          </p:nvPr>
        </p:nvSpPr>
        <p:spPr>
          <a:xfrm>
            <a:off x="4281488" y="10155238"/>
            <a:ext cx="3276600" cy="536575"/>
          </a:xfrm>
          <a:prstGeom prst="rect">
            <a:avLst/>
          </a:prstGeom>
        </p:spPr>
        <p:txBody>
          <a:bodyPr vert="horz" lIns="91440" tIns="45720" rIns="91440" bIns="45720" rtlCol="0" anchor="b"/>
          <a:lstStyle>
            <a:lvl1pPr algn="r">
              <a:defRPr sz="1200"/>
            </a:lvl1pPr>
          </a:lstStyle>
          <a:p>
            <a:fld id="{E4199376-55CE-4213-A97D-9D70929AC508}" type="slidenum">
              <a:rPr lang="en-US" smtClean="0"/>
              <a:pPr/>
              <a:t>‹#›</a:t>
            </a:fld>
            <a:endParaRPr lang="en-US"/>
          </a:p>
        </p:txBody>
      </p:sp>
    </p:spTree>
    <p:extLst>
      <p:ext uri="{BB962C8B-B14F-4D97-AF65-F5344CB8AC3E}">
        <p14:creationId xmlns:p14="http://schemas.microsoft.com/office/powerpoint/2010/main" val="4123002274"/>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276600" cy="53657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4281488" y="0"/>
            <a:ext cx="3276600" cy="536575"/>
          </a:xfrm>
          <a:prstGeom prst="rect">
            <a:avLst/>
          </a:prstGeom>
        </p:spPr>
        <p:txBody>
          <a:bodyPr vert="horz" lIns="91440" tIns="45720" rIns="91440" bIns="45720" rtlCol="0"/>
          <a:lstStyle>
            <a:lvl1pPr algn="r">
              <a:defRPr sz="1200"/>
            </a:lvl1pPr>
          </a:lstStyle>
          <a:p>
            <a:fld id="{888BC1CF-45D5-4DEE-AAB8-8C5341844FC9}" type="datetimeFigureOut">
              <a:rPr lang="en-US" smtClean="0"/>
              <a:pPr/>
              <a:t>5/2/2026</a:t>
            </a:fld>
            <a:endParaRPr lang="en-US"/>
          </a:p>
        </p:txBody>
      </p:sp>
      <p:sp>
        <p:nvSpPr>
          <p:cNvPr id="4" name="Slide Image Placeholder 3"/>
          <p:cNvSpPr>
            <a:spLocks noGrp="1" noRot="1" noChangeAspect="1"/>
          </p:cNvSpPr>
          <p:nvPr>
            <p:ph type="sldImg" idx="2"/>
          </p:nvPr>
        </p:nvSpPr>
        <p:spPr>
          <a:xfrm>
            <a:off x="1374775" y="1336675"/>
            <a:ext cx="4810125" cy="3608388"/>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55650" y="5145088"/>
            <a:ext cx="6048375" cy="42100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0155238"/>
            <a:ext cx="3276600" cy="536575"/>
          </a:xfrm>
          <a:prstGeom prst="rect">
            <a:avLst/>
          </a:prstGeom>
        </p:spPr>
        <p:txBody>
          <a:bodyPr vert="horz" lIns="91440" tIns="45720" rIns="91440" bIns="45720" rtlCol="0" anchor="b"/>
          <a:lstStyle>
            <a:lvl1pPr algn="l">
              <a:defRPr sz="1200"/>
            </a:lvl1pPr>
          </a:lstStyle>
          <a:p>
            <a:r>
              <a:rPr lang="en-US"/>
              <a:t>Name of the faculty [Group: G00] [Sem:2nd]</a:t>
            </a:r>
          </a:p>
        </p:txBody>
      </p:sp>
      <p:sp>
        <p:nvSpPr>
          <p:cNvPr id="7" name="Slide Number Placeholder 6"/>
          <p:cNvSpPr>
            <a:spLocks noGrp="1"/>
          </p:cNvSpPr>
          <p:nvPr>
            <p:ph type="sldNum" sz="quarter" idx="5"/>
          </p:nvPr>
        </p:nvSpPr>
        <p:spPr>
          <a:xfrm>
            <a:off x="4281488" y="10155238"/>
            <a:ext cx="3276600" cy="536575"/>
          </a:xfrm>
          <a:prstGeom prst="rect">
            <a:avLst/>
          </a:prstGeom>
        </p:spPr>
        <p:txBody>
          <a:bodyPr vert="horz" lIns="91440" tIns="45720" rIns="91440" bIns="45720" rtlCol="0" anchor="b"/>
          <a:lstStyle>
            <a:lvl1pPr algn="r">
              <a:defRPr sz="1200"/>
            </a:lvl1pPr>
          </a:lstStyle>
          <a:p>
            <a:fld id="{C5A7523A-12D4-4E0F-9409-B3F845B48333}" type="slidenum">
              <a:rPr lang="en-US" smtClean="0"/>
              <a:pPr/>
              <a:t>‹#›</a:t>
            </a:fld>
            <a:endParaRPr lang="en-US"/>
          </a:p>
        </p:txBody>
      </p:sp>
    </p:spTree>
    <p:extLst>
      <p:ext uri="{BB962C8B-B14F-4D97-AF65-F5344CB8AC3E}">
        <p14:creationId xmlns:p14="http://schemas.microsoft.com/office/powerpoint/2010/main" val="3458122221"/>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5A7523A-12D4-4E0F-9409-B3F845B48333}" type="slidenum">
              <a:rPr lang="en-US" smtClean="0"/>
              <a:pPr/>
              <a:t>1</a:t>
            </a:fld>
            <a:endParaRPr lang="en-US"/>
          </a:p>
        </p:txBody>
      </p:sp>
      <p:sp>
        <p:nvSpPr>
          <p:cNvPr id="5" name="Footer Placeholder 4">
            <a:extLst>
              <a:ext uri="{FF2B5EF4-FFF2-40B4-BE49-F238E27FC236}">
                <a16:creationId xmlns:a16="http://schemas.microsoft.com/office/drawing/2014/main" id="{A599BB95-9755-4BC6-8051-C2B8CF54F2A1}"/>
              </a:ext>
            </a:extLst>
          </p:cNvPr>
          <p:cNvSpPr>
            <a:spLocks noGrp="1"/>
          </p:cNvSpPr>
          <p:nvPr>
            <p:ph type="ftr" sz="quarter" idx="4"/>
          </p:nvPr>
        </p:nvSpPr>
        <p:spPr/>
        <p:txBody>
          <a:bodyPr/>
          <a:lstStyle/>
          <a:p>
            <a:r>
              <a:rPr lang="en-US"/>
              <a:t>Name of the faculty [Group: G00] [Sem:2nd]</a:t>
            </a:r>
          </a:p>
        </p:txBody>
      </p:sp>
    </p:spTree>
    <p:extLst>
      <p:ext uri="{BB962C8B-B14F-4D97-AF65-F5344CB8AC3E}">
        <p14:creationId xmlns:p14="http://schemas.microsoft.com/office/powerpoint/2010/main" val="42548747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20"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21" name="PlaceHolder 2"/>
          <p:cNvSpPr>
            <a:spLocks noGrp="1"/>
          </p:cNvSpPr>
          <p:nvPr>
            <p:ph type="subTitle"/>
          </p:nvPr>
        </p:nvSpPr>
        <p:spPr>
          <a:xfrm>
            <a:off x="457200" y="1604520"/>
            <a:ext cx="8229240" cy="3977280"/>
          </a:xfrm>
          <a:prstGeom prst="rect">
            <a:avLst/>
          </a:prstGeom>
        </p:spPr>
        <p:txBody>
          <a:bodyPr lIns="0" tIns="0" rIns="0" bIns="0" anchor="ctr">
            <a:noAutofit/>
          </a:bodyPr>
          <a:lstStyle/>
          <a:p>
            <a:pPr algn="ctr"/>
            <a:endParaRPr lang="en-GB" sz="3200" b="0" strike="noStrike" spc="-1" dirty="0">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23" name="PlaceHolder 2"/>
          <p:cNvSpPr>
            <a:spLocks noGrp="1"/>
          </p:cNvSpPr>
          <p:nvPr>
            <p:ph type="body"/>
          </p:nvPr>
        </p:nvSpPr>
        <p:spPr>
          <a:xfrm>
            <a:off x="457200" y="1604520"/>
            <a:ext cx="8229240" cy="397728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24"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25" name="PlaceHolder 2"/>
          <p:cNvSpPr>
            <a:spLocks noGrp="1"/>
          </p:cNvSpPr>
          <p:nvPr>
            <p:ph type="body"/>
          </p:nvPr>
        </p:nvSpPr>
        <p:spPr>
          <a:xfrm>
            <a:off x="45720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26" name="PlaceHolder 3"/>
          <p:cNvSpPr>
            <a:spLocks noGrp="1"/>
          </p:cNvSpPr>
          <p:nvPr>
            <p:ph type="body"/>
          </p:nvPr>
        </p:nvSpPr>
        <p:spPr>
          <a:xfrm>
            <a:off x="467424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7"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28" name="PlaceHolder 1"/>
          <p:cNvSpPr>
            <a:spLocks noGrp="1"/>
          </p:cNvSpPr>
          <p:nvPr>
            <p:ph type="subTitle"/>
          </p:nvPr>
        </p:nvSpPr>
        <p:spPr>
          <a:xfrm>
            <a:off x="0" y="0"/>
            <a:ext cx="5486040" cy="4238280"/>
          </a:xfrm>
          <a:prstGeom prst="rect">
            <a:avLst/>
          </a:prstGeom>
        </p:spPr>
        <p:txBody>
          <a:bodyPr lIns="0" tIns="0" rIns="0" bIns="0" anchor="ctr">
            <a:noAutofit/>
          </a:bodyPr>
          <a:lstStyle/>
          <a:p>
            <a:pPr algn="ctr"/>
            <a:endParaRPr lang="en-GB" sz="3200" b="0" strike="noStrike" spc="-1">
              <a:latin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30"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1" name="PlaceHolder 3"/>
          <p:cNvSpPr>
            <a:spLocks noGrp="1"/>
          </p:cNvSpPr>
          <p:nvPr>
            <p:ph type="body"/>
          </p:nvPr>
        </p:nvSpPr>
        <p:spPr>
          <a:xfrm>
            <a:off x="467424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2" name="PlaceHolder 4"/>
          <p:cNvSpPr>
            <a:spLocks noGrp="1"/>
          </p:cNvSpPr>
          <p:nvPr>
            <p:ph type="body"/>
          </p:nvPr>
        </p:nvSpPr>
        <p:spPr>
          <a:xfrm>
            <a:off x="45720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33"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34" name="PlaceHolder 2"/>
          <p:cNvSpPr>
            <a:spLocks noGrp="1"/>
          </p:cNvSpPr>
          <p:nvPr>
            <p:ph type="body"/>
          </p:nvPr>
        </p:nvSpPr>
        <p:spPr>
          <a:xfrm>
            <a:off x="45720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5"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6" name="PlaceHolder 4"/>
          <p:cNvSpPr>
            <a:spLocks noGrp="1"/>
          </p:cNvSpPr>
          <p:nvPr>
            <p:ph type="body"/>
          </p:nvPr>
        </p:nvSpPr>
        <p:spPr>
          <a:xfrm>
            <a:off x="467424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37"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38"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9"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0" name="PlaceHolder 4"/>
          <p:cNvSpPr>
            <a:spLocks noGrp="1"/>
          </p:cNvSpPr>
          <p:nvPr>
            <p:ph type="body"/>
          </p:nvPr>
        </p:nvSpPr>
        <p:spPr>
          <a:xfrm>
            <a:off x="457200" y="3682080"/>
            <a:ext cx="822924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41"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42" name="PlaceHolder 2"/>
          <p:cNvSpPr>
            <a:spLocks noGrp="1"/>
          </p:cNvSpPr>
          <p:nvPr>
            <p:ph type="body"/>
          </p:nvPr>
        </p:nvSpPr>
        <p:spPr>
          <a:xfrm>
            <a:off x="457200" y="1604520"/>
            <a:ext cx="822924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3" name="PlaceHolder 3"/>
          <p:cNvSpPr>
            <a:spLocks noGrp="1"/>
          </p:cNvSpPr>
          <p:nvPr>
            <p:ph type="body"/>
          </p:nvPr>
        </p:nvSpPr>
        <p:spPr>
          <a:xfrm>
            <a:off x="457200" y="3682080"/>
            <a:ext cx="822924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44"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45"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6"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7" name="PlaceHolder 4"/>
          <p:cNvSpPr>
            <a:spLocks noGrp="1"/>
          </p:cNvSpPr>
          <p:nvPr>
            <p:ph type="body"/>
          </p:nvPr>
        </p:nvSpPr>
        <p:spPr>
          <a:xfrm>
            <a:off x="45720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8" name="PlaceHolder 5"/>
          <p:cNvSpPr>
            <a:spLocks noGrp="1"/>
          </p:cNvSpPr>
          <p:nvPr>
            <p:ph type="body"/>
          </p:nvPr>
        </p:nvSpPr>
        <p:spPr>
          <a:xfrm>
            <a:off x="467424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49"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50" name="PlaceHolder 2"/>
          <p:cNvSpPr>
            <a:spLocks noGrp="1"/>
          </p:cNvSpPr>
          <p:nvPr>
            <p:ph type="body"/>
          </p:nvPr>
        </p:nvSpPr>
        <p:spPr>
          <a:xfrm>
            <a:off x="457200" y="160452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1" name="PlaceHolder 3"/>
          <p:cNvSpPr>
            <a:spLocks noGrp="1"/>
          </p:cNvSpPr>
          <p:nvPr>
            <p:ph type="body"/>
          </p:nvPr>
        </p:nvSpPr>
        <p:spPr>
          <a:xfrm>
            <a:off x="3239640" y="160452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2" name="PlaceHolder 4"/>
          <p:cNvSpPr>
            <a:spLocks noGrp="1"/>
          </p:cNvSpPr>
          <p:nvPr>
            <p:ph type="body"/>
          </p:nvPr>
        </p:nvSpPr>
        <p:spPr>
          <a:xfrm>
            <a:off x="6022080" y="160452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3" name="PlaceHolder 5"/>
          <p:cNvSpPr>
            <a:spLocks noGrp="1"/>
          </p:cNvSpPr>
          <p:nvPr>
            <p:ph type="body"/>
          </p:nvPr>
        </p:nvSpPr>
        <p:spPr>
          <a:xfrm>
            <a:off x="457200" y="368208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4" name="PlaceHolder 6"/>
          <p:cNvSpPr>
            <a:spLocks noGrp="1"/>
          </p:cNvSpPr>
          <p:nvPr>
            <p:ph type="body"/>
          </p:nvPr>
        </p:nvSpPr>
        <p:spPr>
          <a:xfrm>
            <a:off x="3239640" y="368208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5" name="PlaceHolder 7"/>
          <p:cNvSpPr>
            <a:spLocks noGrp="1"/>
          </p:cNvSpPr>
          <p:nvPr>
            <p:ph type="body"/>
          </p:nvPr>
        </p:nvSpPr>
        <p:spPr>
          <a:xfrm>
            <a:off x="6022080" y="368208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 name="CustomShape 1"/>
          <p:cNvSpPr/>
          <p:nvPr/>
        </p:nvSpPr>
        <p:spPr>
          <a:xfrm>
            <a:off x="0" y="0"/>
            <a:ext cx="914364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sp>
      <p:sp>
        <p:nvSpPr>
          <p:cNvPr id="21" name="CustomShape 2"/>
          <p:cNvSpPr/>
          <p:nvPr/>
        </p:nvSpPr>
        <p:spPr>
          <a:xfrm flipV="1">
            <a:off x="0" y="6704640"/>
            <a:ext cx="9143640" cy="197640"/>
          </a:xfrm>
          <a:prstGeom prst="rect">
            <a:avLst/>
          </a:prstGeom>
          <a:solidFill>
            <a:srgbClr val="FF0000"/>
          </a:solidFill>
          <a:ln w="9360">
            <a:noFill/>
          </a:ln>
          <a:scene3d>
            <a:camera prst="orthographicFront"/>
            <a:lightRig rig="threePt" dir="t"/>
          </a:scene3d>
          <a:sp3d/>
        </p:spPr>
        <p:style>
          <a:lnRef idx="0">
            <a:scrgbClr r="0" g="0" b="0"/>
          </a:lnRef>
          <a:fillRef idx="0">
            <a:scrgbClr r="0" g="0" b="0"/>
          </a:fillRef>
          <a:effectRef idx="0">
            <a:scrgbClr r="0" g="0" b="0"/>
          </a:effectRef>
          <a:fontRef idx="minor"/>
        </p:style>
      </p:sp>
      <p:pic>
        <p:nvPicPr>
          <p:cNvPr id="2" name="Picture 10" descr="LOGO.gif"/>
          <p:cNvPicPr/>
          <p:nvPr/>
        </p:nvPicPr>
        <p:blipFill>
          <a:blip r:embed="rId14"/>
          <a:srcRect b="10718"/>
          <a:stretch/>
        </p:blipFill>
        <p:spPr>
          <a:xfrm>
            <a:off x="6553080" y="228600"/>
            <a:ext cx="2057040" cy="634680"/>
          </a:xfrm>
          <a:prstGeom prst="rect">
            <a:avLst/>
          </a:prstGeom>
          <a:ln w="9360">
            <a:noFill/>
          </a:ln>
        </p:spPr>
      </p:pic>
      <p:pic>
        <p:nvPicPr>
          <p:cNvPr id="3" name="Picture 10" descr="LOGO.gif"/>
          <p:cNvPicPr/>
          <p:nvPr/>
        </p:nvPicPr>
        <p:blipFill>
          <a:blip r:embed="rId14"/>
          <a:srcRect b="10718"/>
          <a:stretch/>
        </p:blipFill>
        <p:spPr>
          <a:xfrm>
            <a:off x="6553080" y="228600"/>
            <a:ext cx="2057040" cy="634680"/>
          </a:xfrm>
          <a:prstGeom prst="rect">
            <a:avLst/>
          </a:prstGeom>
          <a:ln w="9360">
            <a:noFill/>
          </a:ln>
        </p:spPr>
      </p:pic>
      <p:grpSp>
        <p:nvGrpSpPr>
          <p:cNvPr id="4" name="Group 3"/>
          <p:cNvGrpSpPr/>
          <p:nvPr/>
        </p:nvGrpSpPr>
        <p:grpSpPr>
          <a:xfrm>
            <a:off x="6146640" y="0"/>
            <a:ext cx="2997000" cy="875880"/>
            <a:chOff x="6146640" y="0"/>
            <a:chExt cx="2997000" cy="875880"/>
          </a:xfrm>
        </p:grpSpPr>
        <p:sp>
          <p:nvSpPr>
            <p:cNvPr id="5" name="CustomShape 4"/>
            <p:cNvSpPr/>
            <p:nvPr/>
          </p:nvSpPr>
          <p:spPr>
            <a:xfrm>
              <a:off x="6146640" y="0"/>
              <a:ext cx="299700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sp>
        <p:pic>
          <p:nvPicPr>
            <p:cNvPr id="6" name="Picture 9" descr="LOGO.gif"/>
            <p:cNvPicPr/>
            <p:nvPr/>
          </p:nvPicPr>
          <p:blipFill>
            <a:blip r:embed="rId14"/>
            <a:srcRect b="10718"/>
            <a:stretch/>
          </p:blipFill>
          <p:spPr>
            <a:xfrm>
              <a:off x="6553080" y="228600"/>
              <a:ext cx="2057040" cy="634680"/>
            </a:xfrm>
            <a:prstGeom prst="rect">
              <a:avLst/>
            </a:prstGeom>
            <a:ln w="9360">
              <a:noFill/>
            </a:ln>
          </p:spPr>
        </p:pic>
        <p:sp>
          <p:nvSpPr>
            <p:cNvPr id="7" name="CustomShape 5"/>
            <p:cNvSpPr/>
            <p:nvPr/>
          </p:nvSpPr>
          <p:spPr>
            <a:xfrm>
              <a:off x="6527880" y="190440"/>
              <a:ext cx="2076120" cy="685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sp>
      </p:grpSp>
      <p:pic>
        <p:nvPicPr>
          <p:cNvPr id="8" name="Picture 15" descr="logo.jpg"/>
          <p:cNvPicPr/>
          <p:nvPr/>
        </p:nvPicPr>
        <p:blipFill>
          <a:blip r:embed="rId15"/>
          <a:stretch/>
        </p:blipFill>
        <p:spPr>
          <a:xfrm>
            <a:off x="6553080" y="228600"/>
            <a:ext cx="1920600" cy="609120"/>
          </a:xfrm>
          <a:prstGeom prst="rect">
            <a:avLst/>
          </a:prstGeom>
          <a:ln w="9360">
            <a:noFill/>
          </a:ln>
        </p:spPr>
      </p:pic>
      <p:pic>
        <p:nvPicPr>
          <p:cNvPr id="9" name="Picture 10" descr="LOGO.gif"/>
          <p:cNvPicPr/>
          <p:nvPr/>
        </p:nvPicPr>
        <p:blipFill>
          <a:blip r:embed="rId14"/>
          <a:srcRect b="10718"/>
          <a:stretch/>
        </p:blipFill>
        <p:spPr>
          <a:xfrm>
            <a:off x="6553080" y="228600"/>
            <a:ext cx="2057040" cy="634680"/>
          </a:xfrm>
          <a:prstGeom prst="rect">
            <a:avLst/>
          </a:prstGeom>
          <a:ln w="9360">
            <a:noFill/>
          </a:ln>
        </p:spPr>
      </p:pic>
      <p:grpSp>
        <p:nvGrpSpPr>
          <p:cNvPr id="10" name="Group 6"/>
          <p:cNvGrpSpPr/>
          <p:nvPr/>
        </p:nvGrpSpPr>
        <p:grpSpPr>
          <a:xfrm>
            <a:off x="6146640" y="0"/>
            <a:ext cx="2997000" cy="875880"/>
            <a:chOff x="6146640" y="0"/>
            <a:chExt cx="2997000" cy="875880"/>
          </a:xfrm>
        </p:grpSpPr>
        <p:sp>
          <p:nvSpPr>
            <p:cNvPr id="11" name="CustomShape 7"/>
            <p:cNvSpPr/>
            <p:nvPr/>
          </p:nvSpPr>
          <p:spPr>
            <a:xfrm>
              <a:off x="6146640" y="0"/>
              <a:ext cx="299700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sp>
        <p:pic>
          <p:nvPicPr>
            <p:cNvPr id="12" name="Picture 9" descr="LOGO.gif"/>
            <p:cNvPicPr/>
            <p:nvPr/>
          </p:nvPicPr>
          <p:blipFill>
            <a:blip r:embed="rId14"/>
            <a:srcRect b="10718"/>
            <a:stretch/>
          </p:blipFill>
          <p:spPr>
            <a:xfrm>
              <a:off x="6553080" y="228600"/>
              <a:ext cx="2057040" cy="634680"/>
            </a:xfrm>
            <a:prstGeom prst="rect">
              <a:avLst/>
            </a:prstGeom>
            <a:ln w="9360">
              <a:noFill/>
            </a:ln>
          </p:spPr>
        </p:pic>
        <p:sp>
          <p:nvSpPr>
            <p:cNvPr id="13" name="CustomShape 8"/>
            <p:cNvSpPr/>
            <p:nvPr/>
          </p:nvSpPr>
          <p:spPr>
            <a:xfrm>
              <a:off x="6527880" y="190440"/>
              <a:ext cx="2076120" cy="685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sp>
      </p:grpSp>
      <p:pic>
        <p:nvPicPr>
          <p:cNvPr id="14" name="Picture 15" descr="logo.jpg"/>
          <p:cNvPicPr/>
          <p:nvPr/>
        </p:nvPicPr>
        <p:blipFill>
          <a:blip r:embed="rId15"/>
          <a:stretch/>
        </p:blipFill>
        <p:spPr>
          <a:xfrm>
            <a:off x="6553080" y="228600"/>
            <a:ext cx="1920600" cy="609120"/>
          </a:xfrm>
          <a:prstGeom prst="rect">
            <a:avLst/>
          </a:prstGeom>
          <a:ln w="9360">
            <a:noFill/>
          </a:ln>
        </p:spPr>
      </p:pic>
      <p:sp>
        <p:nvSpPr>
          <p:cNvPr id="15" name="PlaceHolder 9"/>
          <p:cNvSpPr>
            <a:spLocks noGrp="1"/>
          </p:cNvSpPr>
          <p:nvPr>
            <p:ph type="title"/>
          </p:nvPr>
        </p:nvSpPr>
        <p:spPr>
          <a:xfrm>
            <a:off x="0" y="0"/>
            <a:ext cx="6476760" cy="837720"/>
          </a:xfrm>
          <a:prstGeom prst="rect">
            <a:avLst/>
          </a:prstGeom>
        </p:spPr>
        <p:txBody>
          <a:bodyPr anchor="ctr">
            <a:noAutofit/>
          </a:bodyPr>
          <a:lstStyle/>
          <a:p>
            <a:pPr algn="ctr">
              <a:lnSpc>
                <a:spcPct val="100000"/>
              </a:lnSpc>
            </a:pPr>
            <a:r>
              <a:rPr lang="en-US" sz="3000" b="0" strike="noStrike" spc="-1" dirty="0">
                <a:solidFill>
                  <a:srgbClr val="000000"/>
                </a:solidFill>
                <a:latin typeface="Calibri"/>
                <a:ea typeface="MS PGothic"/>
              </a:rPr>
              <a:t>Click to edit Master title style</a:t>
            </a:r>
            <a:endParaRPr lang="en-US" sz="3000" b="0" strike="noStrike" spc="-1" dirty="0">
              <a:solidFill>
                <a:srgbClr val="000000"/>
              </a:solidFill>
              <a:latin typeface="Arial"/>
            </a:endParaRPr>
          </a:p>
        </p:txBody>
      </p:sp>
      <p:sp>
        <p:nvSpPr>
          <p:cNvPr id="16" name="PlaceHolder 10"/>
          <p:cNvSpPr>
            <a:spLocks noGrp="1"/>
          </p:cNvSpPr>
          <p:nvPr>
            <p:ph type="body"/>
          </p:nvPr>
        </p:nvSpPr>
        <p:spPr>
          <a:xfrm>
            <a:off x="457200" y="1371600"/>
            <a:ext cx="8229240" cy="4525560"/>
          </a:xfrm>
          <a:prstGeom prst="rect">
            <a:avLst/>
          </a:prstGeom>
        </p:spPr>
        <p:txBody>
          <a:bodyPr>
            <a:noAutofit/>
          </a:bodyPr>
          <a:lstStyle/>
          <a:p>
            <a:pPr marL="343080" indent="-342720">
              <a:lnSpc>
                <a:spcPct val="100000"/>
              </a:lnSpc>
              <a:spcBef>
                <a:spcPts val="641"/>
              </a:spcBef>
              <a:buClr>
                <a:srgbClr val="000000"/>
              </a:buClr>
              <a:buFont typeface="Arial"/>
              <a:buChar char="•"/>
            </a:pPr>
            <a:r>
              <a:rPr lang="en-US" sz="3200" b="0" strike="noStrike" spc="-1" dirty="0">
                <a:solidFill>
                  <a:srgbClr val="000000"/>
                </a:solidFill>
                <a:latin typeface="Calibri"/>
                <a:ea typeface="MS PGothic"/>
              </a:rPr>
              <a:t>Click to edit Master text styles</a:t>
            </a:r>
            <a:endParaRPr lang="en-US" sz="3200" b="0" strike="noStrike" spc="-1" dirty="0">
              <a:solidFill>
                <a:srgbClr val="000000"/>
              </a:solidFill>
              <a:latin typeface="Calibri"/>
            </a:endParaRPr>
          </a:p>
          <a:p>
            <a:pPr marL="743040" lvl="1" indent="-285480">
              <a:lnSpc>
                <a:spcPct val="100000"/>
              </a:lnSpc>
              <a:spcBef>
                <a:spcPts val="561"/>
              </a:spcBef>
              <a:buClr>
                <a:srgbClr val="000000"/>
              </a:buClr>
              <a:buFont typeface="Arial"/>
              <a:buChar char="–"/>
            </a:pPr>
            <a:r>
              <a:rPr lang="en-US" sz="2800" b="0" strike="noStrike" spc="-1" dirty="0">
                <a:solidFill>
                  <a:srgbClr val="000000"/>
                </a:solidFill>
                <a:latin typeface="Calibri"/>
                <a:ea typeface="MS PGothic"/>
              </a:rPr>
              <a:t>Second level</a:t>
            </a:r>
            <a:endParaRPr lang="en-US" sz="2800" b="0" strike="noStrike" spc="-1" dirty="0">
              <a:solidFill>
                <a:srgbClr val="000000"/>
              </a:solidFill>
              <a:latin typeface="Calibri"/>
            </a:endParaRPr>
          </a:p>
          <a:p>
            <a:pPr marL="1143000" lvl="2" indent="-228240">
              <a:lnSpc>
                <a:spcPct val="100000"/>
              </a:lnSpc>
              <a:spcBef>
                <a:spcPts val="479"/>
              </a:spcBef>
              <a:buClr>
                <a:srgbClr val="000000"/>
              </a:buClr>
              <a:buFont typeface="Arial"/>
              <a:buChar char="•"/>
            </a:pPr>
            <a:r>
              <a:rPr lang="en-US" sz="2400" b="0" strike="noStrike" spc="-1" dirty="0">
                <a:solidFill>
                  <a:srgbClr val="000000"/>
                </a:solidFill>
                <a:latin typeface="Calibri"/>
                <a:ea typeface="MS PGothic"/>
              </a:rPr>
              <a:t>Third level</a:t>
            </a:r>
            <a:endParaRPr lang="en-US" sz="2400" b="0" strike="noStrike" spc="-1" dirty="0">
              <a:solidFill>
                <a:srgbClr val="000000"/>
              </a:solidFill>
              <a:latin typeface="Calibri"/>
            </a:endParaRPr>
          </a:p>
          <a:p>
            <a:pPr marL="1600200" lvl="3" indent="-228240">
              <a:lnSpc>
                <a:spcPct val="100000"/>
              </a:lnSpc>
              <a:spcBef>
                <a:spcPts val="400"/>
              </a:spcBef>
              <a:buClr>
                <a:srgbClr val="000000"/>
              </a:buClr>
              <a:buFont typeface="Arial"/>
              <a:buChar char="–"/>
            </a:pPr>
            <a:r>
              <a:rPr lang="en-US" sz="2000" b="0" strike="noStrike" spc="-1" dirty="0">
                <a:solidFill>
                  <a:srgbClr val="000000"/>
                </a:solidFill>
                <a:latin typeface="Calibri"/>
                <a:ea typeface="MS PGothic"/>
              </a:rPr>
              <a:t>Fourth level</a:t>
            </a:r>
            <a:endParaRPr lang="en-US" sz="2000" b="0" strike="noStrike" spc="-1" dirty="0">
              <a:solidFill>
                <a:srgbClr val="000000"/>
              </a:solidFill>
              <a:latin typeface="Calibri"/>
            </a:endParaRPr>
          </a:p>
          <a:p>
            <a:pPr marL="2057400" lvl="4" indent="-228240">
              <a:lnSpc>
                <a:spcPct val="100000"/>
              </a:lnSpc>
              <a:spcBef>
                <a:spcPts val="400"/>
              </a:spcBef>
              <a:buClr>
                <a:srgbClr val="000000"/>
              </a:buClr>
              <a:buFont typeface="Arial"/>
              <a:buChar char="»"/>
            </a:pPr>
            <a:r>
              <a:rPr lang="en-US" sz="2000" b="0" strike="noStrike" spc="-1" dirty="0">
                <a:solidFill>
                  <a:srgbClr val="000000"/>
                </a:solidFill>
                <a:latin typeface="Calibri"/>
                <a:ea typeface="MS PGothic"/>
              </a:rPr>
              <a:t>Fifth level</a:t>
            </a:r>
            <a:endParaRPr lang="en-US" sz="2000" b="0" strike="noStrike" spc="-1" dirty="0">
              <a:solidFill>
                <a:srgbClr val="000000"/>
              </a:solidFill>
              <a:latin typeface="Calibri"/>
            </a:endParaRPr>
          </a:p>
        </p:txBody>
      </p:sp>
      <p:sp>
        <p:nvSpPr>
          <p:cNvPr id="17" name="PlaceHolder 11"/>
          <p:cNvSpPr>
            <a:spLocks noGrp="1"/>
          </p:cNvSpPr>
          <p:nvPr>
            <p:ph type="dt"/>
          </p:nvPr>
        </p:nvSpPr>
        <p:spPr>
          <a:xfrm>
            <a:off x="457200" y="6356520"/>
            <a:ext cx="2133360" cy="364680"/>
          </a:xfrm>
          <a:prstGeom prst="rect">
            <a:avLst/>
          </a:prstGeom>
        </p:spPr>
        <p:txBody>
          <a:bodyPr anchor="ctr">
            <a:noAutofit/>
          </a:bodyPr>
          <a:lstStyle/>
          <a:p>
            <a:pPr>
              <a:lnSpc>
                <a:spcPct val="100000"/>
              </a:lnSpc>
            </a:pPr>
            <a:endParaRPr lang="en-GB" sz="1200" b="0" strike="noStrike" spc="-1">
              <a:latin typeface="Times New Roman"/>
            </a:endParaRPr>
          </a:p>
        </p:txBody>
      </p:sp>
      <p:sp>
        <p:nvSpPr>
          <p:cNvPr id="18" name="PlaceHolder 12"/>
          <p:cNvSpPr>
            <a:spLocks noGrp="1"/>
          </p:cNvSpPr>
          <p:nvPr>
            <p:ph type="ftr"/>
          </p:nvPr>
        </p:nvSpPr>
        <p:spPr>
          <a:xfrm>
            <a:off x="3124080" y="6356520"/>
            <a:ext cx="2895120" cy="364680"/>
          </a:xfrm>
          <a:prstGeom prst="rect">
            <a:avLst/>
          </a:prstGeom>
        </p:spPr>
        <p:txBody>
          <a:bodyPr anchor="ctr">
            <a:noAutofit/>
          </a:bodyPr>
          <a:lstStyle/>
          <a:p>
            <a:r>
              <a:rPr lang="en-GB" sz="2400" b="0" strike="noStrike" spc="-1">
                <a:latin typeface="Times New Roman"/>
              </a:rPr>
              <a:t>Name</a:t>
            </a:r>
          </a:p>
        </p:txBody>
      </p:sp>
      <p:sp>
        <p:nvSpPr>
          <p:cNvPr id="19" name="PlaceHolder 13"/>
          <p:cNvSpPr>
            <a:spLocks noGrp="1"/>
          </p:cNvSpPr>
          <p:nvPr>
            <p:ph type="sldNum"/>
          </p:nvPr>
        </p:nvSpPr>
        <p:spPr>
          <a:xfrm>
            <a:off x="6553080" y="6356520"/>
            <a:ext cx="2133360" cy="364680"/>
          </a:xfrm>
          <a:prstGeom prst="rect">
            <a:avLst/>
          </a:prstGeom>
        </p:spPr>
        <p:txBody>
          <a:bodyPr anchor="ctr">
            <a:noAutofit/>
          </a:bodyPr>
          <a:lstStyle/>
          <a:p>
            <a:pPr algn="r">
              <a:lnSpc>
                <a:spcPct val="100000"/>
              </a:lnSpc>
            </a:pPr>
            <a:fld id="{1CFDC92E-FF5D-4613-8499-B15BC16E50D9}" type="slidenum">
              <a:rPr lang="en-US" sz="1200" b="0" strike="noStrike" spc="-1">
                <a:solidFill>
                  <a:srgbClr val="898989"/>
                </a:solidFill>
                <a:latin typeface="Calibri"/>
                <a:ea typeface="MS PGothic"/>
              </a:rPr>
              <a:pPr algn="r">
                <a:lnSpc>
                  <a:spcPct val="100000"/>
                </a:lnSpc>
              </a:pPr>
              <a:t>‹#›</a:t>
            </a:fld>
            <a:endParaRPr lang="en-GB" sz="1200" b="0" strike="noStrike" spc="-1">
              <a:latin typeface="Times New Roman"/>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Shape 1"/>
          <p:cNvSpPr txBox="1"/>
          <p:nvPr/>
        </p:nvSpPr>
        <p:spPr>
          <a:xfrm>
            <a:off x="0" y="840631"/>
            <a:ext cx="9144000" cy="5413865"/>
          </a:xfrm>
          <a:prstGeom prst="rect">
            <a:avLst/>
          </a:prstGeom>
          <a:noFill/>
          <a:ln w="9360">
            <a:noFill/>
          </a:ln>
        </p:spPr>
        <p:txBody>
          <a:bodyPr>
            <a:noAutofit/>
          </a:bodyPr>
          <a:lstStyle/>
          <a:p>
            <a:pPr algn="ctr">
              <a:lnSpc>
                <a:spcPct val="100000"/>
              </a:lnSpc>
              <a:spcBef>
                <a:spcPts val="400"/>
              </a:spcBef>
            </a:pPr>
            <a:r>
              <a:rPr lang="en-IN" b="1" dirty="0">
                <a:latin typeface="Times New Roman" panose="02020603050405020304" pitchFamily="18" charset="0"/>
                <a:ea typeface="Calibri" panose="020F0502020204030204" pitchFamily="34" charset="0"/>
                <a:cs typeface="Times New Roman" panose="02020603050405020304" pitchFamily="18" charset="0"/>
              </a:rPr>
              <a:t>Project Presentation of </a:t>
            </a:r>
            <a:r>
              <a:rPr lang="en-US" b="1" dirty="0">
                <a:latin typeface="Times New Roman" panose="02020603050405020304" pitchFamily="18" charset="0"/>
                <a:ea typeface="Calibri" panose="020F0502020204030204" pitchFamily="34" charset="0"/>
                <a:cs typeface="Times New Roman" panose="02020603050405020304" pitchFamily="18" charset="0"/>
              </a:rPr>
              <a:t>CO-OP Project at Industry (Module-2) </a:t>
            </a:r>
            <a:r>
              <a:rPr lang="en-IN" b="1" dirty="0">
                <a:latin typeface="Times New Roman" panose="02020603050405020304" pitchFamily="18" charset="0"/>
                <a:ea typeface="Calibri" panose="020F0502020204030204" pitchFamily="34" charset="0"/>
                <a:cs typeface="Times New Roman" panose="02020603050405020304" pitchFamily="18" charset="0"/>
              </a:rPr>
              <a:t>(22CS421)</a:t>
            </a:r>
          </a:p>
          <a:p>
            <a:pPr algn="ctr">
              <a:lnSpc>
                <a:spcPct val="100000"/>
              </a:lnSpc>
              <a:spcBef>
                <a:spcPts val="400"/>
              </a:spcBef>
            </a:pPr>
            <a:r>
              <a:rPr lang="en-US" sz="2000" spc="-1" dirty="0">
                <a:latin typeface="Times New Roman" panose="02020603050405020304" pitchFamily="18" charset="0"/>
                <a:ea typeface="Calibri" panose="020F0502020204030204" pitchFamily="34" charset="0"/>
                <a:cs typeface="Times New Roman" panose="02020603050405020304" pitchFamily="18" charset="0"/>
              </a:rPr>
              <a:t>On</a:t>
            </a:r>
          </a:p>
          <a:p>
            <a:pPr algn="ctr">
              <a:lnSpc>
                <a:spcPct val="100000"/>
              </a:lnSpc>
              <a:spcBef>
                <a:spcPts val="400"/>
              </a:spcBef>
            </a:pPr>
            <a:endParaRPr lang="en-US" sz="2000" spc="-1" dirty="0">
              <a:latin typeface="Times New Roman" panose="02020603050405020304" pitchFamily="18" charset="0"/>
              <a:ea typeface="Calibri" panose="020F0502020204030204" pitchFamily="34" charset="0"/>
              <a:cs typeface="Times New Roman" panose="02020603050405020304" pitchFamily="18" charset="0"/>
            </a:endParaRPr>
          </a:p>
          <a:p>
            <a:pPr algn="ctr">
              <a:lnSpc>
                <a:spcPct val="100000"/>
              </a:lnSpc>
              <a:spcBef>
                <a:spcPts val="400"/>
              </a:spcBef>
            </a:pPr>
            <a:r>
              <a:rPr lang="en-US" sz="2400" b="1" dirty="0"/>
              <a:t>Image captioning using CNN and Transformers</a:t>
            </a:r>
            <a:endParaRPr lang="en-US" sz="2400" b="1" i="1" spc="-1" dirty="0">
              <a:latin typeface="Times New Roman" panose="02020603050405020304" pitchFamily="18" charset="0"/>
              <a:ea typeface="Calibri" panose="020F0502020204030204" pitchFamily="34" charset="0"/>
              <a:cs typeface="Times New Roman" panose="02020603050405020304" pitchFamily="18" charset="0"/>
            </a:endParaRPr>
          </a:p>
          <a:p>
            <a:pPr algn="ctr">
              <a:spcBef>
                <a:spcPts val="400"/>
              </a:spcBef>
            </a:pPr>
            <a:br>
              <a:rPr lang="en-US" sz="2000" b="0" strike="noStrike" spc="-1" dirty="0">
                <a:solidFill>
                  <a:srgbClr val="000000"/>
                </a:solidFill>
                <a:latin typeface="Times New Roman" panose="02020603050405020304" pitchFamily="18" charset="0"/>
                <a:ea typeface="MS PGothic"/>
                <a:cs typeface="Times New Roman" panose="02020603050405020304" pitchFamily="18" charset="0"/>
              </a:rPr>
            </a:br>
            <a:r>
              <a:rPr lang="en-US" sz="2000" spc="-1" dirty="0">
                <a:solidFill>
                  <a:srgbClr val="000000"/>
                </a:solidFill>
                <a:latin typeface="Times New Roman" panose="02020603050405020304" pitchFamily="18" charset="0"/>
                <a:ea typeface="MS PGothic"/>
                <a:cs typeface="Times New Roman" panose="02020603050405020304" pitchFamily="18" charset="0"/>
              </a:rPr>
              <a:t>Diya Nanda (2210991546)</a:t>
            </a:r>
          </a:p>
          <a:p>
            <a:pPr algn="ctr">
              <a:lnSpc>
                <a:spcPct val="100000"/>
              </a:lnSpc>
              <a:spcBef>
                <a:spcPts val="400"/>
              </a:spcBef>
            </a:pPr>
            <a:r>
              <a:rPr lang="en-US" sz="2000" spc="-1" dirty="0">
                <a:solidFill>
                  <a:srgbClr val="000000"/>
                </a:solidFill>
                <a:latin typeface="Times New Roman" panose="02020603050405020304" pitchFamily="18" charset="0"/>
                <a:ea typeface="MS PGothic"/>
                <a:cs typeface="Times New Roman" panose="02020603050405020304" pitchFamily="18" charset="0"/>
              </a:rPr>
              <a:t>Hasika(2210991649)</a:t>
            </a:r>
          </a:p>
          <a:p>
            <a:pPr algn="ctr">
              <a:spcBef>
                <a:spcPts val="400"/>
              </a:spcBef>
            </a:pPr>
            <a:r>
              <a:rPr lang="en-US" sz="2000" spc="-1" dirty="0">
                <a:solidFill>
                  <a:srgbClr val="000000"/>
                </a:solidFill>
                <a:latin typeface="Times New Roman" panose="02020603050405020304" pitchFamily="18" charset="0"/>
                <a:ea typeface="MS PGothic"/>
                <a:cs typeface="Times New Roman" panose="02020603050405020304" pitchFamily="18" charset="0"/>
              </a:rPr>
              <a:t>Himanshi Mittal(2210991657)</a:t>
            </a:r>
          </a:p>
          <a:p>
            <a:pPr algn="ctr">
              <a:lnSpc>
                <a:spcPct val="100000"/>
              </a:lnSpc>
              <a:spcBef>
                <a:spcPts val="400"/>
              </a:spcBef>
            </a:pPr>
            <a:endParaRPr lang="en-US" sz="2000" b="0" strike="noStrike" spc="-1" dirty="0">
              <a:solidFill>
                <a:srgbClr val="000000"/>
              </a:solidFill>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r>
              <a:rPr lang="en-US" sz="2000" spc="-1" dirty="0">
                <a:solidFill>
                  <a:srgbClr val="000000"/>
                </a:solidFill>
                <a:latin typeface="Times New Roman" panose="02020603050405020304" pitchFamily="18" charset="0"/>
                <a:ea typeface="MS PGothic"/>
                <a:cs typeface="Times New Roman" panose="02020603050405020304" pitchFamily="18" charset="0"/>
              </a:rPr>
              <a:t>Supervised By</a:t>
            </a:r>
          </a:p>
          <a:p>
            <a:pPr algn="ctr">
              <a:lnSpc>
                <a:spcPct val="100000"/>
              </a:lnSpc>
              <a:spcBef>
                <a:spcPts val="400"/>
              </a:spcBef>
            </a:pPr>
            <a:r>
              <a:rPr lang="en-US" sz="2000" b="0" strike="noStrike" spc="-1" dirty="0">
                <a:solidFill>
                  <a:srgbClr val="000000"/>
                </a:solidFill>
                <a:latin typeface="Times New Roman" panose="02020603050405020304" pitchFamily="18" charset="0"/>
                <a:ea typeface="MS PGothic"/>
                <a:cs typeface="Times New Roman" panose="02020603050405020304" pitchFamily="18" charset="0"/>
              </a:rPr>
              <a:t>Dr. Lalit Sharma</a:t>
            </a:r>
          </a:p>
          <a:p>
            <a:pPr algn="ctr">
              <a:lnSpc>
                <a:spcPct val="100000"/>
              </a:lnSpc>
              <a:spcBef>
                <a:spcPts val="400"/>
              </a:spcBef>
            </a:pPr>
            <a:r>
              <a:rPr lang="en-US" sz="2400" spc="-1" dirty="0">
                <a:latin typeface="Times New Roman" panose="02020603050405020304" pitchFamily="18" charset="0"/>
                <a:ea typeface="MS PGothic"/>
                <a:cs typeface="Times New Roman" panose="02020603050405020304" pitchFamily="18" charset="0"/>
              </a:rPr>
              <a:t>Department of </a:t>
            </a:r>
            <a:r>
              <a:rPr lang="en-US" sz="2400" b="0" strike="noStrike" spc="-1" dirty="0">
                <a:latin typeface="Times New Roman" panose="02020603050405020304" pitchFamily="18" charset="0"/>
                <a:ea typeface="MS PGothic"/>
                <a:cs typeface="Times New Roman" panose="02020603050405020304" pitchFamily="18" charset="0"/>
              </a:rPr>
              <a:t>Computer Science and Engineering, </a:t>
            </a:r>
          </a:p>
          <a:p>
            <a:pPr algn="ctr">
              <a:lnSpc>
                <a:spcPct val="100000"/>
              </a:lnSpc>
              <a:spcBef>
                <a:spcPts val="400"/>
              </a:spcBef>
            </a:pPr>
            <a:r>
              <a:rPr lang="en-US" sz="2400" b="0" strike="noStrike" spc="-1" dirty="0">
                <a:latin typeface="Times New Roman" panose="02020603050405020304" pitchFamily="18" charset="0"/>
                <a:ea typeface="MS PGothic"/>
                <a:cs typeface="Times New Roman" panose="02020603050405020304" pitchFamily="18" charset="0"/>
              </a:rPr>
              <a:t>Chitkara University, Punjab</a:t>
            </a:r>
          </a:p>
          <a:p>
            <a:pPr algn="ctr">
              <a:lnSpc>
                <a:spcPct val="150000"/>
              </a:lnSpc>
              <a:spcBef>
                <a:spcPts val="400"/>
              </a:spcBef>
            </a:pPr>
            <a:endParaRPr lang="en-US" sz="2000" b="0" strike="noStrike" spc="-1" dirty="0">
              <a:solidFill>
                <a:srgbClr val="000000"/>
              </a:solidFill>
              <a:latin typeface="Calibri"/>
            </a:endParaRPr>
          </a:p>
          <a:p>
            <a:pPr>
              <a:lnSpc>
                <a:spcPct val="100000"/>
              </a:lnSpc>
              <a:spcBef>
                <a:spcPts val="641"/>
              </a:spcBef>
            </a:pPr>
            <a:endParaRPr lang="en-US" sz="2000" b="0" strike="noStrike" spc="-1" dirty="0">
              <a:solidFill>
                <a:srgbClr val="000000"/>
              </a:solidFill>
              <a:latin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TextShape 1"/>
          <p:cNvSpPr txBox="1"/>
          <p:nvPr/>
        </p:nvSpPr>
        <p:spPr>
          <a:xfrm>
            <a:off x="0" y="0"/>
            <a:ext cx="2450592" cy="837720"/>
          </a:xfrm>
          <a:prstGeom prst="rect">
            <a:avLst/>
          </a:prstGeom>
          <a:noFill/>
          <a:ln w="9360">
            <a:noFill/>
          </a:ln>
        </p:spPr>
        <p:txBody>
          <a:bodyPr anchor="ctr">
            <a:noAutofit/>
          </a:bodyPr>
          <a:lstStyle/>
          <a:p>
            <a:pPr algn="ctr">
              <a:lnSpc>
                <a:spcPct val="100000"/>
              </a:lnSpc>
            </a:pPr>
            <a:r>
              <a:rPr lang="en" sz="3200" dirty="0">
                <a:latin typeface="Times New Roman" panose="02020603050405020304" pitchFamily="18" charset="0"/>
                <a:cs typeface="Times New Roman" panose="02020603050405020304" pitchFamily="18" charset="0"/>
              </a:rPr>
              <a:t>Introduction</a:t>
            </a:r>
            <a:endParaRPr lang="en-US" sz="30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2</a:t>
            </a:fld>
            <a:endParaRPr lang="en-GB" sz="1200" b="0" strike="noStrike" spc="-1">
              <a:latin typeface="Times New Roman"/>
            </a:endParaRPr>
          </a:p>
        </p:txBody>
      </p:sp>
      <p:sp>
        <p:nvSpPr>
          <p:cNvPr id="5" name="TextShape 2"/>
          <p:cNvSpPr txBox="1"/>
          <p:nvPr/>
        </p:nvSpPr>
        <p:spPr>
          <a:xfrm>
            <a:off x="231648" y="1195087"/>
            <a:ext cx="8454792" cy="4425425"/>
          </a:xfrm>
          <a:prstGeom prst="rect">
            <a:avLst/>
          </a:prstGeom>
          <a:noFill/>
          <a:ln w="9360">
            <a:noFill/>
          </a:ln>
        </p:spPr>
        <p:txBody>
          <a:bodyPr>
            <a:noAutofit/>
          </a:bodyPr>
          <a:lstStyle/>
          <a:p>
            <a:pPr>
              <a:lnSpc>
                <a:spcPct val="100000"/>
              </a:lnSpc>
              <a:spcBef>
                <a:spcPts val="400"/>
              </a:spcBef>
            </a:pPr>
            <a:r>
              <a:rPr lang="en-US" sz="2400" dirty="0">
                <a:latin typeface="Times New Roman" panose="02020603050405020304" pitchFamily="18" charset="0"/>
                <a:cs typeface="Times New Roman" panose="02020603050405020304" pitchFamily="18" charset="0"/>
              </a:rPr>
              <a:t>Image captioning is a task that involves generating natural language descriptions for images. It lies at the intersection of computer vision, which helps in understanding visual content, and natural language processing, which enables text generation. This technology plays an important role in applications such as assistive tools for visually impaired individuals, image indexing, and intelligent content-based retrieval systems</a:t>
            </a:r>
            <a:endParaRPr lang="en-US" sz="2400" b="0" strike="noStrike" spc="-1" dirty="0">
              <a:solidFill>
                <a:srgbClr val="000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B59320-2BC2-52EE-951A-8F6C6518E875}"/>
              </a:ext>
            </a:extLst>
          </p:cNvPr>
          <p:cNvSpPr>
            <a:spLocks noGrp="1"/>
          </p:cNvSpPr>
          <p:nvPr>
            <p:ph type="title"/>
          </p:nvPr>
        </p:nvSpPr>
        <p:spPr/>
        <p:txBody>
          <a:bodyPr/>
          <a:lstStyle/>
          <a:p>
            <a:r>
              <a:rPr lang="en-IN" sz="2800" dirty="0">
                <a:latin typeface="Times New Roman" panose="02020603050405020304" pitchFamily="18" charset="0"/>
                <a:cs typeface="Times New Roman" panose="02020603050405020304" pitchFamily="18" charset="0"/>
              </a:rPr>
              <a:t> Problem Statement</a:t>
            </a:r>
          </a:p>
        </p:txBody>
      </p:sp>
      <p:sp>
        <p:nvSpPr>
          <p:cNvPr id="3" name="Subtitle 2">
            <a:extLst>
              <a:ext uri="{FF2B5EF4-FFF2-40B4-BE49-F238E27FC236}">
                <a16:creationId xmlns:a16="http://schemas.microsoft.com/office/drawing/2014/main" id="{11029ABA-984C-132D-A5AE-0BAF42C0B674}"/>
              </a:ext>
            </a:extLst>
          </p:cNvPr>
          <p:cNvSpPr>
            <a:spLocks noGrp="1"/>
          </p:cNvSpPr>
          <p:nvPr>
            <p:ph type="subTitle"/>
          </p:nvPr>
        </p:nvSpPr>
        <p:spPr>
          <a:xfrm>
            <a:off x="188976" y="812040"/>
            <a:ext cx="8229240" cy="3977280"/>
          </a:xfrm>
        </p:spPr>
        <p:txBody>
          <a:bodyPr/>
          <a:lstStyle/>
          <a:p>
            <a:pPr marL="0" indent="0">
              <a:buNone/>
            </a:pPr>
            <a:r>
              <a:rPr lang="en-US" sz="2400" dirty="0">
                <a:latin typeface="Times New Roman" panose="02020603050405020304" pitchFamily="18" charset="0"/>
                <a:cs typeface="Times New Roman" panose="02020603050405020304" pitchFamily="18" charset="0"/>
              </a:rPr>
              <a:t>Traditional image captioning approaches relied on models such as Recurrent Neural Networks (RNNs) and Long Short-Term Memory (LSTMs). Although effective to some extent, these models suffer from limitations such as difficulty in capturing long-range dependencies and slow sequential processing. This motivated the use of Transformer-based architectures, which provide better contextual understanding and faster training through parallel processing.</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263480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1D84D-6EC6-94A6-E94E-7467DE9C72E1}"/>
              </a:ext>
            </a:extLst>
          </p:cNvPr>
          <p:cNvSpPr>
            <a:spLocks noGrp="1"/>
          </p:cNvSpPr>
          <p:nvPr>
            <p:ph type="title"/>
          </p:nvPr>
        </p:nvSpPr>
        <p:spPr/>
        <p:txBody>
          <a:bodyPr/>
          <a:lstStyle/>
          <a:p>
            <a:r>
              <a:rPr lang="en-IN" sz="2800" dirty="0">
                <a:latin typeface="Times New Roman" panose="02020603050405020304" pitchFamily="18" charset="0"/>
                <a:cs typeface="Times New Roman" panose="02020603050405020304" pitchFamily="18" charset="0"/>
              </a:rPr>
              <a:t> Proposed Approach</a:t>
            </a:r>
          </a:p>
        </p:txBody>
      </p:sp>
      <p:sp>
        <p:nvSpPr>
          <p:cNvPr id="3" name="Subtitle 2">
            <a:extLst>
              <a:ext uri="{FF2B5EF4-FFF2-40B4-BE49-F238E27FC236}">
                <a16:creationId xmlns:a16="http://schemas.microsoft.com/office/drawing/2014/main" id="{F252537F-F062-01A9-F1FD-64CA903ED276}"/>
              </a:ext>
            </a:extLst>
          </p:cNvPr>
          <p:cNvSpPr>
            <a:spLocks noGrp="1"/>
          </p:cNvSpPr>
          <p:nvPr>
            <p:ph type="subTitle"/>
          </p:nvPr>
        </p:nvSpPr>
        <p:spPr>
          <a:xfrm>
            <a:off x="140208" y="365400"/>
            <a:ext cx="8229240" cy="3977280"/>
          </a:xfrm>
        </p:spPr>
        <p:txBody>
          <a:bodyPr/>
          <a:lstStyle/>
          <a:p>
            <a:pPr marL="0" indent="0">
              <a:buNone/>
            </a:pPr>
            <a:r>
              <a:rPr lang="en-US" sz="2400" dirty="0">
                <a:latin typeface="Times New Roman" panose="02020603050405020304" pitchFamily="18" charset="0"/>
                <a:cs typeface="Times New Roman" panose="02020603050405020304" pitchFamily="18" charset="0"/>
              </a:rPr>
              <a:t>In this work, we propose a hybrid architecture that combines Convolutional Neural Networks (CNNs) and Transformers. The CNN (VGG16) is used to extract meaningful visual features from images, while the Transformer-based decoder generates contextually relevant captions. The model is trained and evaluated using the Flickr8k dataset.</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47093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957F1D-C6D9-23B3-38E5-0BB7893F6BBD}"/>
              </a:ext>
            </a:extLst>
          </p:cNvPr>
          <p:cNvSpPr>
            <a:spLocks noGrp="1"/>
          </p:cNvSpPr>
          <p:nvPr>
            <p:ph type="title"/>
          </p:nvPr>
        </p:nvSpPr>
        <p:spPr/>
        <p:txBody>
          <a:bodyPr/>
          <a:lstStyle/>
          <a:p>
            <a:r>
              <a:rPr lang="en-IN" sz="2800" dirty="0">
                <a:latin typeface="Times New Roman" panose="02020603050405020304" pitchFamily="18" charset="0"/>
                <a:cs typeface="Times New Roman" panose="02020603050405020304" pitchFamily="18" charset="0"/>
              </a:rPr>
              <a:t> Literature Review</a:t>
            </a:r>
          </a:p>
        </p:txBody>
      </p:sp>
      <p:sp>
        <p:nvSpPr>
          <p:cNvPr id="3" name="Subtitle 2">
            <a:extLst>
              <a:ext uri="{FF2B5EF4-FFF2-40B4-BE49-F238E27FC236}">
                <a16:creationId xmlns:a16="http://schemas.microsoft.com/office/drawing/2014/main" id="{4206A13C-F891-4674-950D-18DD5BB50B10}"/>
              </a:ext>
            </a:extLst>
          </p:cNvPr>
          <p:cNvSpPr>
            <a:spLocks noGrp="1"/>
          </p:cNvSpPr>
          <p:nvPr>
            <p:ph type="subTitle"/>
          </p:nvPr>
        </p:nvSpPr>
        <p:spPr>
          <a:xfrm>
            <a:off x="128016" y="548280"/>
            <a:ext cx="8229240" cy="3977280"/>
          </a:xfrm>
        </p:spPr>
        <p:txBody>
          <a:bodyPr/>
          <a:lstStyle/>
          <a:p>
            <a:pPr marL="0" indent="0">
              <a:buNone/>
            </a:pPr>
            <a:r>
              <a:rPr lang="en-US" sz="2400" dirty="0">
                <a:latin typeface="Times New Roman" panose="02020603050405020304" pitchFamily="18" charset="0"/>
                <a:cs typeface="Times New Roman" panose="02020603050405020304" pitchFamily="18" charset="0"/>
              </a:rPr>
              <a:t>Earlier research primarily focused on combining CNNs with RNNs or LSTMs for image captioning tasks. However, recent advancements have shown that attention mechanisms and Transformer architectures significantly improve performance. These models allow better handling of long-range dependencies and enable the system to focus on relevant parts of the image and text, resulting in more accurate captions.</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115299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7C50E0-477E-DDC6-C18F-1B142B8844D9}"/>
              </a:ext>
            </a:extLst>
          </p:cNvPr>
          <p:cNvSpPr>
            <a:spLocks noGrp="1"/>
          </p:cNvSpPr>
          <p:nvPr>
            <p:ph type="title"/>
          </p:nvPr>
        </p:nvSpPr>
        <p:spPr/>
        <p:txBody>
          <a:bodyPr/>
          <a:lstStyle/>
          <a:p>
            <a:r>
              <a:rPr lang="en-IN" sz="2800" dirty="0">
                <a:latin typeface="Times New Roman" panose="02020603050405020304" pitchFamily="18" charset="0"/>
                <a:cs typeface="Times New Roman" panose="02020603050405020304" pitchFamily="18" charset="0"/>
              </a:rPr>
              <a:t> Methodology</a:t>
            </a:r>
          </a:p>
        </p:txBody>
      </p:sp>
      <p:sp>
        <p:nvSpPr>
          <p:cNvPr id="3" name="Subtitle 2">
            <a:extLst>
              <a:ext uri="{FF2B5EF4-FFF2-40B4-BE49-F238E27FC236}">
                <a16:creationId xmlns:a16="http://schemas.microsoft.com/office/drawing/2014/main" id="{8D52EDDC-4613-DF3E-34A0-7D6A60C467FA}"/>
              </a:ext>
            </a:extLst>
          </p:cNvPr>
          <p:cNvSpPr>
            <a:spLocks noGrp="1"/>
          </p:cNvSpPr>
          <p:nvPr>
            <p:ph type="subTitle"/>
          </p:nvPr>
        </p:nvSpPr>
        <p:spPr>
          <a:xfrm>
            <a:off x="140208" y="1299720"/>
            <a:ext cx="8229240" cy="3977280"/>
          </a:xfrm>
        </p:spPr>
        <p:txBody>
          <a:bodyPr/>
          <a:lstStyle/>
          <a:p>
            <a:r>
              <a:rPr lang="en-US" sz="2400" dirty="0">
                <a:latin typeface="Times New Roman" panose="02020603050405020304" pitchFamily="18" charset="0"/>
                <a:cs typeface="Times New Roman" panose="02020603050405020304" pitchFamily="18" charset="0"/>
              </a:rPr>
              <a:t>The proposed methodology consists of multiple stages that work together to generate captions:</a:t>
            </a:r>
          </a:p>
          <a:p>
            <a:r>
              <a:rPr lang="en-US" sz="2400" b="1" dirty="0">
                <a:latin typeface="Times New Roman" panose="02020603050405020304" pitchFamily="18" charset="0"/>
                <a:cs typeface="Times New Roman" panose="02020603050405020304" pitchFamily="18" charset="0"/>
              </a:rPr>
              <a:t>Dataset:</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The Flickr8k dataset is used, which contains around 8000 images, each paired with five descriptive captions. This helps the model learn diverse ways of describing the same image. </a:t>
            </a:r>
          </a:p>
          <a:p>
            <a:r>
              <a:rPr lang="en-US" sz="2400" b="1" dirty="0">
                <a:latin typeface="Times New Roman" panose="02020603050405020304" pitchFamily="18" charset="0"/>
                <a:cs typeface="Times New Roman" panose="02020603050405020304" pitchFamily="18" charset="0"/>
              </a:rPr>
              <a:t>Data Preprocessing:</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Images are resized and passed through VGG16 to extract feature vectors. Captions are tokenized, converted into sequences, and padded to ensure uniform input length for training.</a:t>
            </a:r>
          </a:p>
          <a:p>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854894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12621C-3848-A8B2-7E46-3998028AEDAC}"/>
              </a:ext>
            </a:extLst>
          </p:cNvPr>
          <p:cNvSpPr>
            <a:spLocks noGrp="1"/>
          </p:cNvSpPr>
          <p:nvPr>
            <p:ph type="title"/>
          </p:nvPr>
        </p:nvSpPr>
        <p:spPr/>
        <p:txBody>
          <a:bodyPr/>
          <a:lstStyle/>
          <a:p>
            <a:r>
              <a:rPr lang="en-US" sz="2800" dirty="0">
                <a:latin typeface="Times New Roman" panose="02020603050405020304" pitchFamily="18" charset="0"/>
                <a:cs typeface="Times New Roman" panose="02020603050405020304" pitchFamily="18" charset="0"/>
              </a:rPr>
              <a:t> Methodology</a:t>
            </a:r>
            <a:endParaRPr lang="en-IN" sz="2800" dirty="0">
              <a:latin typeface="Times New Roman" panose="02020603050405020304" pitchFamily="18" charset="0"/>
              <a:cs typeface="Times New Roman" panose="02020603050405020304" pitchFamily="18" charset="0"/>
            </a:endParaRPr>
          </a:p>
        </p:txBody>
      </p:sp>
      <p:sp>
        <p:nvSpPr>
          <p:cNvPr id="4" name="Rectangle 1">
            <a:extLst>
              <a:ext uri="{FF2B5EF4-FFF2-40B4-BE49-F238E27FC236}">
                <a16:creationId xmlns:a16="http://schemas.microsoft.com/office/drawing/2014/main" id="{BB6E4DD5-C49E-EC83-BFF4-BEE5C5758CD5}"/>
              </a:ext>
            </a:extLst>
          </p:cNvPr>
          <p:cNvSpPr>
            <a:spLocks noGrp="1" noChangeArrowheads="1"/>
          </p:cNvSpPr>
          <p:nvPr>
            <p:ph type="subTitle"/>
          </p:nvPr>
        </p:nvSpPr>
        <p:spPr bwMode="auto">
          <a:xfrm>
            <a:off x="128017" y="1267167"/>
            <a:ext cx="8686799"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Feature Extraction (CNN - VGG16):</a:t>
            </a:r>
            <a:b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 pre-trained VGG16 model is used to extract deep visual features such as object details, textures, and scene context, which are essential for caption generation.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Transformer &amp; Attention Mechanism:</a:t>
            </a:r>
            <a:b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Transformer uses multi-head attention to capture relationships between words and align them with image features. This allows the model to focus on the most relevant parts of the input.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Cross-Modal Fusion:</a:t>
            </a:r>
            <a:b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Image features and text features are combined using element-wise addition. This helps integrate visual and textual information effectively. </a:t>
            </a:r>
          </a:p>
        </p:txBody>
      </p:sp>
    </p:spTree>
    <p:extLst>
      <p:ext uri="{BB962C8B-B14F-4D97-AF65-F5344CB8AC3E}">
        <p14:creationId xmlns:p14="http://schemas.microsoft.com/office/powerpoint/2010/main" val="21207042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B16A80-0978-FC6E-608D-045C5EA327BC}"/>
              </a:ext>
            </a:extLst>
          </p:cNvPr>
          <p:cNvSpPr>
            <a:spLocks noGrp="1"/>
          </p:cNvSpPr>
          <p:nvPr>
            <p:ph type="title"/>
          </p:nvPr>
        </p:nvSpPr>
        <p:spPr/>
        <p:txBody>
          <a:bodyPr/>
          <a:lstStyle/>
          <a:p>
            <a:r>
              <a:rPr lang="en-US" sz="2800" dirty="0">
                <a:latin typeface="Times New Roman" panose="02020603050405020304" pitchFamily="18" charset="0"/>
                <a:cs typeface="Times New Roman" panose="02020603050405020304" pitchFamily="18" charset="0"/>
              </a:rPr>
              <a:t> Methodology</a:t>
            </a:r>
            <a:endParaRPr lang="en-IN" sz="2800"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A6498A0C-BDB8-418E-0083-17B35708BE0A}"/>
              </a:ext>
            </a:extLst>
          </p:cNvPr>
          <p:cNvSpPr>
            <a:spLocks noGrp="1"/>
          </p:cNvSpPr>
          <p:nvPr>
            <p:ph type="subTitle"/>
          </p:nvPr>
        </p:nvSpPr>
        <p:spPr>
          <a:xfrm>
            <a:off x="115824" y="-199896"/>
            <a:ext cx="8229240" cy="3977280"/>
          </a:xfrm>
        </p:spPr>
        <p:txBody>
          <a:bodyPr/>
          <a:lstStyle/>
          <a:p>
            <a:r>
              <a:rPr lang="en-US" sz="2400" b="1" dirty="0"/>
              <a:t>Training:</a:t>
            </a:r>
            <a:br>
              <a:rPr lang="en-US" sz="2400" dirty="0"/>
            </a:br>
            <a:r>
              <a:rPr lang="en-US" sz="2400" dirty="0"/>
              <a:t>The model is trained using the Adam optimizer and categorical cross-entropy loss. Dropout is applied to prevent overfitting and improve generalization.</a:t>
            </a:r>
            <a:endParaRPr lang="en-IN" sz="2400" dirty="0"/>
          </a:p>
        </p:txBody>
      </p:sp>
    </p:spTree>
    <p:extLst>
      <p:ext uri="{BB962C8B-B14F-4D97-AF65-F5344CB8AC3E}">
        <p14:creationId xmlns:p14="http://schemas.microsoft.com/office/powerpoint/2010/main" val="27746864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1B1FE5-3C34-374F-B62D-BC5A728B97BB}"/>
              </a:ext>
            </a:extLst>
          </p:cNvPr>
          <p:cNvSpPr>
            <a:spLocks noGrp="1"/>
          </p:cNvSpPr>
          <p:nvPr>
            <p:ph type="title"/>
          </p:nvPr>
        </p:nvSpPr>
        <p:spPr>
          <a:xfrm>
            <a:off x="0" y="0"/>
            <a:ext cx="7303008" cy="914040"/>
          </a:xfrm>
        </p:spPr>
        <p:txBody>
          <a:bodyPr/>
          <a:lstStyle/>
          <a:p>
            <a:r>
              <a:rPr lang="en-IN" sz="2800" dirty="0"/>
              <a:t> Model Architecture Overview</a:t>
            </a:r>
          </a:p>
        </p:txBody>
      </p:sp>
      <p:sp>
        <p:nvSpPr>
          <p:cNvPr id="3" name="Subtitle 2">
            <a:extLst>
              <a:ext uri="{FF2B5EF4-FFF2-40B4-BE49-F238E27FC236}">
                <a16:creationId xmlns:a16="http://schemas.microsoft.com/office/drawing/2014/main" id="{E8C7E156-364B-C87E-99B2-2672796712B5}"/>
              </a:ext>
            </a:extLst>
          </p:cNvPr>
          <p:cNvSpPr>
            <a:spLocks noGrp="1"/>
          </p:cNvSpPr>
          <p:nvPr>
            <p:ph type="subTitle"/>
          </p:nvPr>
        </p:nvSpPr>
        <p:spPr>
          <a:xfrm>
            <a:off x="225552" y="396060"/>
            <a:ext cx="8229240" cy="3977280"/>
          </a:xfrm>
        </p:spPr>
        <p:txBody>
          <a:bodyPr/>
          <a:lstStyle/>
          <a:p>
            <a:pPr marL="0" indent="0">
              <a:buNone/>
            </a:pPr>
            <a:r>
              <a:rPr lang="en-US" sz="2400" dirty="0">
                <a:latin typeface="Times New Roman" panose="02020603050405020304" pitchFamily="18" charset="0"/>
                <a:cs typeface="Times New Roman" panose="02020603050405020304" pitchFamily="18" charset="0"/>
              </a:rPr>
              <a:t>The model follows an encoder–decoder architecture with two inputs: image features and text sequences. The encoder processes the input text, while the decoder generates captions step by step. Multi-head attention layers help capture both local and global dependencies, enabling the model to generate coherent and context-aware descriptions.</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171254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EED67F-C578-2FB8-940A-5896D2CAE088}"/>
              </a:ext>
            </a:extLst>
          </p:cNvPr>
          <p:cNvSpPr>
            <a:spLocks noGrp="1"/>
          </p:cNvSpPr>
          <p:nvPr>
            <p:ph type="title"/>
          </p:nvPr>
        </p:nvSpPr>
        <p:spPr/>
        <p:txBody>
          <a:bodyPr/>
          <a:lstStyle/>
          <a:p>
            <a:r>
              <a:rPr lang="en-US" sz="2800" dirty="0">
                <a:latin typeface="Times New Roman" panose="02020603050405020304" pitchFamily="18" charset="0"/>
                <a:cs typeface="Times New Roman" panose="02020603050405020304" pitchFamily="18" charset="0"/>
              </a:rPr>
              <a:t> </a:t>
            </a:r>
            <a:r>
              <a:rPr lang="en-IN" sz="2800" dirty="0">
                <a:latin typeface="Times New Roman" panose="02020603050405020304" pitchFamily="18" charset="0"/>
                <a:cs typeface="Times New Roman" panose="02020603050405020304" pitchFamily="18" charset="0"/>
              </a:rPr>
              <a:t>Results &amp; Evaluation</a:t>
            </a:r>
          </a:p>
        </p:txBody>
      </p:sp>
      <p:sp>
        <p:nvSpPr>
          <p:cNvPr id="3" name="Subtitle 2">
            <a:extLst>
              <a:ext uri="{FF2B5EF4-FFF2-40B4-BE49-F238E27FC236}">
                <a16:creationId xmlns:a16="http://schemas.microsoft.com/office/drawing/2014/main" id="{E7ED0345-51FF-EC10-3F31-8736E315718D}"/>
              </a:ext>
            </a:extLst>
          </p:cNvPr>
          <p:cNvSpPr>
            <a:spLocks noGrp="1"/>
          </p:cNvSpPr>
          <p:nvPr>
            <p:ph type="subTitle"/>
          </p:nvPr>
        </p:nvSpPr>
        <p:spPr>
          <a:xfrm>
            <a:off x="176784" y="190248"/>
            <a:ext cx="8229240" cy="3977280"/>
          </a:xfrm>
        </p:spPr>
        <p:txBody>
          <a:bodyPr/>
          <a:lstStyle/>
          <a:p>
            <a:pPr marL="0" indent="0">
              <a:buNone/>
            </a:pPr>
            <a:r>
              <a:rPr lang="en-US" sz="2400" dirty="0">
                <a:latin typeface="Times New Roman" panose="02020603050405020304" pitchFamily="18" charset="0"/>
                <a:cs typeface="Times New Roman" panose="02020603050405020304" pitchFamily="18" charset="0"/>
              </a:rPr>
              <a:t>The model’s performance is evaluated using the BLEU score, which measures how closely the generated captions match human-written captions. The model achieved a BLEU-1 score of 0.72 and a BLEU-4 score of 0.46, indicating that it generates meaningful and grammatically correct captions. </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894604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3F8E07-82AA-1E85-6BB5-0DF9735432CB}"/>
              </a:ext>
            </a:extLst>
          </p:cNvPr>
          <p:cNvSpPr>
            <a:spLocks noGrp="1"/>
          </p:cNvSpPr>
          <p:nvPr>
            <p:ph type="title"/>
          </p:nvPr>
        </p:nvSpPr>
        <p:spPr/>
        <p:txBody>
          <a:bodyPr/>
          <a:lstStyle/>
          <a:p>
            <a:r>
              <a:rPr lang="en-US" sz="2800" dirty="0">
                <a:latin typeface="Times New Roman" panose="02020603050405020304" pitchFamily="18" charset="0"/>
                <a:cs typeface="Times New Roman" panose="02020603050405020304" pitchFamily="18" charset="0"/>
              </a:rPr>
              <a:t> Conclusion</a:t>
            </a:r>
            <a:endParaRPr lang="en-IN" sz="2800"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BA20B48B-4E97-FD6D-AFD0-EAAF24B0020F}"/>
              </a:ext>
            </a:extLst>
          </p:cNvPr>
          <p:cNvSpPr>
            <a:spLocks noGrp="1"/>
          </p:cNvSpPr>
          <p:nvPr>
            <p:ph type="subTitle"/>
          </p:nvPr>
        </p:nvSpPr>
        <p:spPr>
          <a:xfrm>
            <a:off x="152400" y="280416"/>
            <a:ext cx="8229240" cy="3977280"/>
          </a:xfrm>
        </p:spPr>
        <p:txBody>
          <a:bodyPr/>
          <a:lstStyle/>
          <a:p>
            <a:pPr marL="0" indent="0">
              <a:buNone/>
            </a:pPr>
            <a:r>
              <a:rPr lang="en-US" sz="2400" dirty="0">
                <a:latin typeface="Times New Roman" panose="02020603050405020304" pitchFamily="18" charset="0"/>
                <a:cs typeface="Times New Roman" panose="02020603050405020304" pitchFamily="18" charset="0"/>
              </a:rPr>
              <a:t>In conclusion, the combination of CNN and Transformer models provides an effective solution for image captioning. The model successfully generates meaningful and context-aware captions, highlighting the potential of integrating computer vision and natural language processing for real-world applications.</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256897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0B959D-5DB9-29E8-EEC2-4498C4345FD9}"/>
              </a:ext>
            </a:extLst>
          </p:cNvPr>
          <p:cNvSpPr>
            <a:spLocks noGrp="1"/>
          </p:cNvSpPr>
          <p:nvPr>
            <p:ph type="title"/>
          </p:nvPr>
        </p:nvSpPr>
        <p:spPr/>
        <p:txBody>
          <a:bodyPr/>
          <a:lstStyle/>
          <a:p>
            <a:r>
              <a:rPr lang="en-US" sz="2800" dirty="0">
                <a:latin typeface="Times New Roman" panose="02020603050405020304" pitchFamily="18" charset="0"/>
                <a:cs typeface="Times New Roman" panose="02020603050405020304" pitchFamily="18" charset="0"/>
              </a:rPr>
              <a:t> References</a:t>
            </a:r>
            <a:endParaRPr lang="en-IN" sz="2800"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1BEFEFC8-82F5-85B9-EF5C-E3632CB19737}"/>
              </a:ext>
            </a:extLst>
          </p:cNvPr>
          <p:cNvSpPr>
            <a:spLocks noGrp="1"/>
          </p:cNvSpPr>
          <p:nvPr>
            <p:ph type="subTitle"/>
          </p:nvPr>
        </p:nvSpPr>
        <p:spPr>
          <a:xfrm>
            <a:off x="457200" y="3803904"/>
            <a:ext cx="8686800" cy="73152"/>
          </a:xfrm>
        </p:spPr>
        <p:txBody>
          <a:bodyPr/>
          <a:lstStyle/>
          <a:p>
            <a:pPr lvl="0"/>
            <a:r>
              <a:rPr lang="en-US" sz="2400" dirty="0">
                <a:latin typeface="Times New Roman" panose="02020603050405020304" pitchFamily="18" charset="0"/>
                <a:cs typeface="Times New Roman" panose="02020603050405020304" pitchFamily="18" charset="0"/>
              </a:rPr>
              <a:t>Chohan, Murk, et al. ”Image captioning using deep learning: A system- </a:t>
            </a:r>
            <a:r>
              <a:rPr lang="en-US" sz="2400" dirty="0" err="1">
                <a:latin typeface="Times New Roman" panose="02020603050405020304" pitchFamily="18" charset="0"/>
                <a:cs typeface="Times New Roman" panose="02020603050405020304" pitchFamily="18" charset="0"/>
              </a:rPr>
              <a:t>atic</a:t>
            </a:r>
            <a:r>
              <a:rPr lang="en-US" sz="2400" dirty="0">
                <a:latin typeface="Times New Roman" panose="02020603050405020304" pitchFamily="18" charset="0"/>
                <a:cs typeface="Times New Roman" panose="02020603050405020304" pitchFamily="18" charset="0"/>
              </a:rPr>
              <a:t>.” image 11.5 (2020): 62.</a:t>
            </a:r>
            <a:endParaRPr lang="en-IN" sz="2400" dirty="0">
              <a:latin typeface="Times New Roman" panose="02020603050405020304" pitchFamily="18" charset="0"/>
              <a:cs typeface="Times New Roman" panose="02020603050405020304" pitchFamily="18" charset="0"/>
            </a:endParaRPr>
          </a:p>
          <a:p>
            <a:pPr lvl="0"/>
            <a:r>
              <a:rPr lang="en-US" sz="2400" dirty="0">
                <a:latin typeface="Times New Roman" panose="02020603050405020304" pitchFamily="18" charset="0"/>
                <a:cs typeface="Times New Roman" panose="02020603050405020304" pitchFamily="18" charset="0"/>
              </a:rPr>
              <a:t>Singh, Yajush Pratap, et al. ”Image captioning using artificial </a:t>
            </a:r>
            <a:r>
              <a:rPr lang="en-US" sz="2400" dirty="0" err="1">
                <a:latin typeface="Times New Roman" panose="02020603050405020304" pitchFamily="18" charset="0"/>
                <a:cs typeface="Times New Roman" panose="02020603050405020304" pitchFamily="18" charset="0"/>
              </a:rPr>
              <a:t>intelli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gence</a:t>
            </a:r>
            <a:r>
              <a:rPr lang="en-US" sz="2400" dirty="0">
                <a:latin typeface="Times New Roman" panose="02020603050405020304" pitchFamily="18" charset="0"/>
                <a:cs typeface="Times New Roman" panose="02020603050405020304" pitchFamily="18" charset="0"/>
              </a:rPr>
              <a:t>.” Journal of Physics: Conference Series. Vol. 1854. No. 1. IOP Publishing, 2021.</a:t>
            </a:r>
            <a:endParaRPr lang="en-IN" sz="2400" dirty="0">
              <a:latin typeface="Times New Roman" panose="02020603050405020304" pitchFamily="18" charset="0"/>
              <a:cs typeface="Times New Roman" panose="02020603050405020304" pitchFamily="18" charset="0"/>
            </a:endParaRPr>
          </a:p>
          <a:p>
            <a:pPr lvl="0"/>
            <a:r>
              <a:rPr lang="en-US" sz="2400" dirty="0">
                <a:latin typeface="Times New Roman" panose="02020603050405020304" pitchFamily="18" charset="0"/>
                <a:cs typeface="Times New Roman" panose="02020603050405020304" pitchFamily="18" charset="0"/>
              </a:rPr>
              <a:t>Alzubi, Jafar A., et al. ”Deep image captioning using an ensemble of CNN and LSTM based deep neural networks.” Journal of Intelligent &amp; Fuzzy Systems 40.4 (2021)</a:t>
            </a:r>
          </a:p>
          <a:p>
            <a:pPr lvl="0"/>
            <a:r>
              <a:rPr lang="en-US" sz="2400" dirty="0">
                <a:latin typeface="Times New Roman" panose="02020603050405020304" pitchFamily="18" charset="0"/>
                <a:cs typeface="Times New Roman" panose="02020603050405020304" pitchFamily="18" charset="0"/>
              </a:rPr>
              <a:t>Ondeng, Oscar, Heywood Ouma, and Peter Akuon. ”A review of transformer-based approaches for image captioning.” Applied Sciences13.19 (2023): 11103.</a:t>
            </a:r>
            <a:endParaRPr lang="en-IN" sz="2400" dirty="0">
              <a:latin typeface="Times New Roman" panose="02020603050405020304" pitchFamily="18" charset="0"/>
              <a:cs typeface="Times New Roman" panose="02020603050405020304" pitchFamily="18" charset="0"/>
            </a:endParaRPr>
          </a:p>
          <a:p>
            <a:pPr lvl="0"/>
            <a:r>
              <a:rPr lang="en-US" sz="2400" dirty="0">
                <a:latin typeface="Times New Roman" panose="02020603050405020304" pitchFamily="18" charset="0"/>
                <a:cs typeface="Times New Roman" panose="02020603050405020304" pitchFamily="18" charset="0"/>
              </a:rPr>
              <a:t>Cornia, Marcella, Lorenzo Baraldi, and Rita Cucchiara. ”Explaining transformer-based image captioning models: An empirical analysis.” AI Communications 35.2 (2022): 111-129.</a:t>
            </a:r>
            <a:endParaRPr lang="en-IN" sz="2400" dirty="0">
              <a:latin typeface="Times New Roman" panose="02020603050405020304" pitchFamily="18" charset="0"/>
              <a:cs typeface="Times New Roman" panose="02020603050405020304" pitchFamily="18" charset="0"/>
            </a:endParaRPr>
          </a:p>
          <a:p>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121612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TextShape 1"/>
          <p:cNvSpPr txBox="1"/>
          <p:nvPr/>
        </p:nvSpPr>
        <p:spPr>
          <a:xfrm>
            <a:off x="1297577" y="2821578"/>
            <a:ext cx="6705599" cy="1410788"/>
          </a:xfrm>
          <a:prstGeom prst="rect">
            <a:avLst/>
          </a:prstGeom>
          <a:noFill/>
          <a:ln w="9360">
            <a:noFill/>
          </a:ln>
        </p:spPr>
        <p:txBody>
          <a:bodyPr anchor="ctr">
            <a:noAutofit/>
          </a:bodyPr>
          <a:lstStyle/>
          <a:p>
            <a:pPr algn="ctr">
              <a:lnSpc>
                <a:spcPct val="100000"/>
              </a:lnSpc>
            </a:pPr>
            <a:r>
              <a:rPr lang="en" sz="5400" dirty="0">
                <a:latin typeface="Times New Roman" panose="02020603050405020304" pitchFamily="18" charset="0"/>
                <a:cs typeface="Times New Roman" panose="02020603050405020304" pitchFamily="18" charset="0"/>
              </a:rPr>
              <a:t>Thank You</a:t>
            </a:r>
            <a:endParaRPr lang="en-US" sz="54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13</a:t>
            </a:fld>
            <a:endParaRPr lang="en-GB" sz="1200" b="0" strike="noStrike" spc="-1">
              <a:latin typeface="Times New Roman"/>
            </a:endParaRPr>
          </a:p>
        </p:txBody>
      </p:sp>
    </p:spTree>
    <p:extLst>
      <p:ext uri="{BB962C8B-B14F-4D97-AF65-F5344CB8AC3E}">
        <p14:creationId xmlns:p14="http://schemas.microsoft.com/office/powerpoint/2010/main" val="283447980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96F1BF43DDE004485E7A868D137D60A" ma:contentTypeVersion="0" ma:contentTypeDescription="Create a new document." ma:contentTypeScope="" ma:versionID="47fff7f98a9c49c088ba096c14cf4458">
  <xsd:schema xmlns:xsd="http://www.w3.org/2001/XMLSchema" xmlns:xs="http://www.w3.org/2001/XMLSchema" xmlns:p="http://schemas.microsoft.com/office/2006/metadata/properties" targetNamespace="http://schemas.microsoft.com/office/2006/metadata/properties" ma:root="true" ma:fieldsID="c05e9f2c4932a6a674126b9dde7716ea">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491DF113-39A2-46D5-BFDA-E63300A9ECA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customXml/itemProps2.xml><?xml version="1.0" encoding="utf-8"?>
<ds:datastoreItem xmlns:ds="http://schemas.openxmlformats.org/officeDocument/2006/customXml" ds:itemID="{737ED6F0-5E4C-4CD0-9B68-9C53F925A6F7}">
  <ds:schemaRefs>
    <ds:schemaRef ds:uri="http://schemas.microsoft.com/sharepoint/v3/contenttype/forms"/>
  </ds:schemaRefs>
</ds:datastoreItem>
</file>

<file path=customXml/itemProps3.xml><?xml version="1.0" encoding="utf-8"?>
<ds:datastoreItem xmlns:ds="http://schemas.openxmlformats.org/officeDocument/2006/customXml" ds:itemID="{4A62A602-78C1-468C-BB25-57CD481DB741}">
  <ds:schemaRefs>
    <ds:schemaRef ds:uri="http://purl.org/dc/terms/"/>
    <ds:schemaRef ds:uri="http://www.w3.org/XML/1998/namespace"/>
    <ds:schemaRef ds:uri="http://purl.org/dc/dcmitype/"/>
    <ds:schemaRef ds:uri="http://schemas.microsoft.com/office/2006/documentManagement/types"/>
    <ds:schemaRef ds:uri="http://schemas.microsoft.com/office/2006/metadata/properties"/>
    <ds:schemaRef ds:uri="http://purl.org/dc/elements/1.1/"/>
    <ds:schemaRef ds:uri="http://schemas.microsoft.com/office/infopath/2007/PartnerControls"/>
    <ds:schemaRef ds:uri="http://schemas.openxmlformats.org/package/2006/metadata/core-properties"/>
  </ds:schemaRefs>
</ds:datastoreItem>
</file>

<file path=docProps/app.xml><?xml version="1.0" encoding="utf-8"?>
<Properties xmlns="http://schemas.openxmlformats.org/officeDocument/2006/extended-properties" xmlns:vt="http://schemas.openxmlformats.org/officeDocument/2006/docPropsVTypes">
  <Template/>
  <TotalTime>34745</TotalTime>
  <Words>849</Words>
  <Application>Microsoft Office PowerPoint</Application>
  <PresentationFormat>On-screen Show (4:3)</PresentationFormat>
  <Paragraphs>47</Paragraphs>
  <Slides>13</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Calibri</vt:lpstr>
      <vt:lpstr>Times New Roman</vt:lpstr>
      <vt:lpstr>Office Theme</vt:lpstr>
      <vt:lpstr>PowerPoint Presentation</vt:lpstr>
      <vt:lpstr>PowerPoint Presentation</vt:lpstr>
      <vt:lpstr> Problem Statement</vt:lpstr>
      <vt:lpstr> Proposed Approach</vt:lpstr>
      <vt:lpstr> Literature Review</vt:lpstr>
      <vt:lpstr> Methodology</vt:lpstr>
      <vt:lpstr> Methodology</vt:lpstr>
      <vt:lpstr> Methodology</vt:lpstr>
      <vt:lpstr> Model Architecture Overview</vt:lpstr>
      <vt:lpstr> Results &amp; Evaluation</vt:lpstr>
      <vt:lpstr> Conclusion</vt:lpstr>
      <vt:lpstr> References</vt:lpstr>
      <vt:lpstr>PowerPoint Presentation</vt:lpstr>
    </vt:vector>
  </TitlesOfParts>
  <Company>CCC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ABC</dc:creator>
  <cp:lastModifiedBy>Diya Nanda</cp:lastModifiedBy>
  <cp:revision>2301</cp:revision>
  <dcterms:created xsi:type="dcterms:W3CDTF">2010-04-09T07:36:15Z</dcterms:created>
  <dcterms:modified xsi:type="dcterms:W3CDTF">2026-05-02T18:17:25Z</dcterms:modified>
  <dc:language>en-GB</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16.0000</vt:lpwstr>
  </property>
  <property fmtid="{D5CDD505-2E9C-101B-9397-08002B2CF9AE}" pid="3" name="Company">
    <vt:lpwstr>CCC</vt:lpwstr>
  </property>
  <property fmtid="{D5CDD505-2E9C-101B-9397-08002B2CF9AE}" pid="4" name="HiddenSlides">
    <vt:i4>0</vt:i4>
  </property>
  <property fmtid="{D5CDD505-2E9C-101B-9397-08002B2CF9AE}" pid="5" name="HyperlinksChanged">
    <vt:bool>false</vt:bool>
  </property>
  <property fmtid="{D5CDD505-2E9C-101B-9397-08002B2CF9AE}" pid="6" name="LinksUpToDate">
    <vt:bool>false</vt:bool>
  </property>
  <property fmtid="{D5CDD505-2E9C-101B-9397-08002B2CF9AE}" pid="7" name="MMClips">
    <vt:i4>0</vt:i4>
  </property>
  <property fmtid="{D5CDD505-2E9C-101B-9397-08002B2CF9AE}" pid="8" name="Notes">
    <vt:i4>0</vt:i4>
  </property>
  <property fmtid="{D5CDD505-2E9C-101B-9397-08002B2CF9AE}" pid="9" name="PresentationFormat">
    <vt:lpwstr>On-screen Show (4:3)</vt:lpwstr>
  </property>
  <property fmtid="{D5CDD505-2E9C-101B-9397-08002B2CF9AE}" pid="10" name="ScaleCrop">
    <vt:bool>false</vt:bool>
  </property>
  <property fmtid="{D5CDD505-2E9C-101B-9397-08002B2CF9AE}" pid="11" name="ShareDoc">
    <vt:bool>false</vt:bool>
  </property>
  <property fmtid="{D5CDD505-2E9C-101B-9397-08002B2CF9AE}" pid="12" name="Slides">
    <vt:i4>37</vt:i4>
  </property>
  <property fmtid="{D5CDD505-2E9C-101B-9397-08002B2CF9AE}" pid="13" name="ContentTypeId">
    <vt:lpwstr>0x010100096F1BF43DDE004485E7A868D137D60A</vt:lpwstr>
  </property>
</Properties>
</file>